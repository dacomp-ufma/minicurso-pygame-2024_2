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Helvetica Neue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1ec1c8dc93a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g1ec1c8dc93a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ec1c8dc93a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ec1c8dc93a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0df8834e97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20df8834e97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ec1c8dc93a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ec1c8dc93a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e6b8ada47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e6b8ada47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e6b8ada476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e6b8ada476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6b8ada476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6b8ada476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6b8ada47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6b8ada47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ec1f21d26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ec1f21d26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1">
  <p:cSld name="CUSTOM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 w="9525" cap="flat" cmpd="sng">
            <a:solidFill>
              <a:srgbClr val="07032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2">
  <p:cSld name="CUSTOM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3">
  <p:cSld name="CUSTOM_2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4">
  <p:cSld name="CUSTOM_3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07032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5">
  <p:cSld name="CUSTOM_4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 w="9525" cap="flat" cmpd="sng">
            <a:solidFill>
              <a:srgbClr val="07032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6">
  <p:cSld name="CUSTOM_5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 w="9525" cap="flat" cmpd="sng">
            <a:solidFill>
              <a:srgbClr val="07032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7">
  <p:cSld name="CUSTOM_6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07032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8">
  <p:cSld name="CUSTOM_7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07032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9">
  <p:cSld name="CUSTOM_8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326"/>
          </a:solidFill>
          <a:ln w="9525" cap="flat" cmpd="sng">
            <a:solidFill>
              <a:srgbClr val="0703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1 1 1 1">
  <p:cSld name="CUSTOM_1_1_1_2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 w="9525" cap="flat" cmpd="sng">
            <a:solidFill>
              <a:srgbClr val="07032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7032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/>
          <p:nvPr/>
        </p:nvSpPr>
        <p:spPr>
          <a:xfrm>
            <a:off x="841900" y="2016000"/>
            <a:ext cx="2946600" cy="12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 A DICIONÁRIOS</a:t>
            </a:r>
            <a:endParaRPr sz="27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6" name="Google Shape;3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95575" y="3629450"/>
            <a:ext cx="1042501" cy="1042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0276" y="4111933"/>
            <a:ext cx="1455176" cy="176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 txBox="1"/>
          <p:nvPr/>
        </p:nvSpPr>
        <p:spPr>
          <a:xfrm>
            <a:off x="605125" y="513050"/>
            <a:ext cx="6195900" cy="4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que são dicionários</a:t>
            </a: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" name="Google Shape;43;p14"/>
          <p:cNvSpPr txBox="1"/>
          <p:nvPr/>
        </p:nvSpPr>
        <p:spPr>
          <a:xfrm>
            <a:off x="605125" y="1454725"/>
            <a:ext cx="6872400" cy="27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●"/>
            </a:pPr>
            <a:r>
              <a:rPr lang="pt-BR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São coleções que guardam os dados independente do tipo</a:t>
            </a:r>
            <a:endParaRPr sz="18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●"/>
            </a:pPr>
            <a:r>
              <a:rPr lang="pt-BR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Indexam os valores com chaves</a:t>
            </a:r>
            <a:endParaRPr sz="18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●"/>
            </a:pPr>
            <a:r>
              <a:rPr lang="pt-BR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Chaves são passadas por uma função hash</a:t>
            </a:r>
            <a:endParaRPr sz="18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●"/>
            </a:pPr>
            <a:r>
              <a:rPr lang="pt-BR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Não pode guardar mais de um objeto por chave, mas pode guardar outros dicionários</a:t>
            </a:r>
            <a:endParaRPr sz="18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●"/>
            </a:pPr>
            <a:r>
              <a:rPr lang="pt-BR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partir do python 3.7, dicionários são ordenados</a:t>
            </a:r>
            <a:endParaRPr sz="18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Char char="●"/>
            </a:pPr>
            <a:r>
              <a:rPr lang="pt-BR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 tempo de procura O(1) no caso médio</a:t>
            </a:r>
            <a:endParaRPr sz="18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/>
        </p:nvSpPr>
        <p:spPr>
          <a:xfrm>
            <a:off x="605125" y="513050"/>
            <a:ext cx="6195900" cy="4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Criando dicionários</a:t>
            </a: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" name="Google Shape;49;p15"/>
          <p:cNvSpPr txBox="1"/>
          <p:nvPr/>
        </p:nvSpPr>
        <p:spPr>
          <a:xfrm>
            <a:off x="1965775" y="1633200"/>
            <a:ext cx="5106600" cy="14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 dirty="0" err="1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meu_dicionario</a:t>
            </a:r>
            <a:r>
              <a:rPr lang="pt-BR" sz="15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 = {} </a:t>
            </a:r>
            <a:r>
              <a:rPr lang="pt-BR" sz="1500" dirty="0">
                <a:solidFill>
                  <a:srgbClr val="7A7E85"/>
                </a:solidFill>
                <a:latin typeface="Consolas"/>
                <a:ea typeface="Consolas"/>
                <a:cs typeface="Consolas"/>
                <a:sym typeface="Consolas"/>
              </a:rPr>
              <a:t># Cria um dicionário vazio</a:t>
            </a:r>
            <a:endParaRPr sz="1500" dirty="0">
              <a:solidFill>
                <a:srgbClr val="7A7E8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 dirty="0">
                <a:solidFill>
                  <a:srgbClr val="7A7E85"/>
                </a:solidFill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pt-BR" sz="1500" dirty="0" err="1">
                <a:solidFill>
                  <a:srgbClr val="7A7E85"/>
                </a:solidFill>
                <a:latin typeface="Consolas"/>
                <a:ea typeface="Consolas"/>
                <a:cs typeface="Consolas"/>
                <a:sym typeface="Consolas"/>
              </a:rPr>
              <a:t>meu_dicionario</a:t>
            </a:r>
            <a:r>
              <a:rPr lang="pt-BR" sz="1500" dirty="0">
                <a:solidFill>
                  <a:srgbClr val="7A7E85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pt-BR" sz="1500" dirty="0" err="1">
                <a:solidFill>
                  <a:srgbClr val="7A7E85"/>
                </a:solidFill>
                <a:latin typeface="Consolas"/>
                <a:ea typeface="Consolas"/>
                <a:cs typeface="Consolas"/>
                <a:sym typeface="Consolas"/>
              </a:rPr>
              <a:t>dict</a:t>
            </a:r>
            <a:r>
              <a:rPr lang="pt-BR" sz="1500" dirty="0">
                <a:solidFill>
                  <a:srgbClr val="7A7E85"/>
                </a:solidFill>
                <a:latin typeface="Consolas"/>
                <a:ea typeface="Consolas"/>
                <a:cs typeface="Consolas"/>
                <a:sym typeface="Consolas"/>
              </a:rPr>
              <a:t>() - declarando dicionário com função</a:t>
            </a:r>
            <a:endParaRPr sz="1500" dirty="0">
              <a:solidFill>
                <a:srgbClr val="7A7E8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 dirty="0" err="1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meu_outro_dicionario</a:t>
            </a:r>
            <a:r>
              <a:rPr lang="pt-BR" sz="15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 = {</a:t>
            </a:r>
            <a:r>
              <a:rPr lang="pt-BR" sz="15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"Chave"</a:t>
            </a:r>
            <a:r>
              <a:rPr lang="pt-BR" sz="15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pt-BR" sz="15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"Valor"</a:t>
            </a:r>
            <a:r>
              <a:rPr lang="pt-BR" sz="15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CF8E6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 txBox="1"/>
          <p:nvPr/>
        </p:nvSpPr>
        <p:spPr>
          <a:xfrm>
            <a:off x="605125" y="513050"/>
            <a:ext cx="6768300" cy="4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Adicionando e removendo itens no dicionário</a:t>
            </a: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" name="Google Shape;55;p16"/>
          <p:cNvSpPr txBox="1"/>
          <p:nvPr/>
        </p:nvSpPr>
        <p:spPr>
          <a:xfrm>
            <a:off x="1854900" y="1138075"/>
            <a:ext cx="4244100" cy="24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 dirty="0" err="1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meu_dicionario</a:t>
            </a:r>
            <a:r>
              <a:rPr lang="pt-BR" sz="15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pt-BR" sz="15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"Chave"</a:t>
            </a:r>
            <a:r>
              <a:rPr lang="pt-BR" sz="15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pt-BR" sz="15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"Valor"</a:t>
            </a:r>
            <a:endParaRPr sz="1500" dirty="0">
              <a:solidFill>
                <a:srgbClr val="6AAB7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8888C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5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500" dirty="0" err="1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meu_dicionario</a:t>
            </a:r>
            <a:r>
              <a:rPr lang="pt-BR" sz="15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 )</a:t>
            </a:r>
            <a:endParaRPr sz="1500"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&gt; {'Chave': 'Valor'}</a:t>
            </a:r>
            <a:endParaRPr sz="150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 dirty="0" err="1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meu_dicionario.pop</a:t>
            </a:r>
            <a:r>
              <a:rPr lang="pt-BR" sz="15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5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"Chave"</a:t>
            </a:r>
            <a:r>
              <a:rPr lang="pt-BR" sz="15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 dirty="0">
                <a:solidFill>
                  <a:srgbClr val="8888C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5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500" dirty="0" err="1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meu_dicionario</a:t>
            </a:r>
            <a:r>
              <a:rPr lang="pt-BR" sz="15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 )</a:t>
            </a:r>
            <a:endParaRPr sz="1500"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&gt; {}</a:t>
            </a:r>
            <a:endParaRPr sz="1500"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BCBEC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/>
          <p:nvPr/>
        </p:nvSpPr>
        <p:spPr>
          <a:xfrm>
            <a:off x="605125" y="513050"/>
            <a:ext cx="6768300" cy="4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Percorrendo o dicionário por chave</a:t>
            </a: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" name="Google Shape;61;p17"/>
          <p:cNvSpPr txBox="1"/>
          <p:nvPr/>
        </p:nvSpPr>
        <p:spPr>
          <a:xfrm>
            <a:off x="1551925" y="1124625"/>
            <a:ext cx="47922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nomes = {</a:t>
            </a:r>
            <a:r>
              <a:rPr lang="pt-BR" sz="13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“Carlos"</a:t>
            </a: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pt-BR" sz="13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“Veras"</a:t>
            </a: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300"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lang="pt-BR" sz="13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“Lukas"</a:t>
            </a: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pt-BR" sz="13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“Gabriel"</a:t>
            </a: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300"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lang="pt-BR" sz="13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pt-BR" sz="1300" dirty="0" err="1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Lebron</a:t>
            </a:r>
            <a:r>
              <a:rPr lang="pt-BR" sz="13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pt-BR" sz="13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pt-BR" sz="1300" dirty="0" err="1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james</a:t>
            </a:r>
            <a:r>
              <a:rPr lang="pt-BR" sz="13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300"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lang="pt-BR" sz="13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“Kanye"</a:t>
            </a: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pt-BR" sz="13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“West"</a:t>
            </a: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 dirty="0">
                <a:solidFill>
                  <a:srgbClr val="CF8E6D"/>
                </a:solidFill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chave </a:t>
            </a:r>
            <a:r>
              <a:rPr lang="pt-BR" sz="1300" dirty="0">
                <a:solidFill>
                  <a:srgbClr val="CF8E6D"/>
                </a:solidFill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nomes:</a:t>
            </a:r>
            <a:endParaRPr sz="1300"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pt-BR" sz="1300" dirty="0">
                <a:solidFill>
                  <a:srgbClr val="8888C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(chave)</a:t>
            </a:r>
            <a:endParaRPr sz="1300"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&gt; Carlos </a:t>
            </a:r>
            <a:r>
              <a:rPr lang="pt-BR" sz="1300" dirty="0">
                <a:solidFill>
                  <a:srgbClr val="7A7E85"/>
                </a:solidFill>
                <a:latin typeface="Consolas"/>
                <a:ea typeface="Consolas"/>
                <a:cs typeface="Consolas"/>
                <a:sym typeface="Consolas"/>
              </a:rPr>
              <a:t> # Cada for vai para uma linha na saída</a:t>
            </a:r>
            <a:endParaRPr sz="130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Lukas</a:t>
            </a:r>
            <a:endParaRPr sz="130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pt-BR" sz="130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Lebron</a:t>
            </a:r>
            <a:endParaRPr sz="130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Kanye</a:t>
            </a:r>
            <a:endParaRPr sz="130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/>
        </p:nvSpPr>
        <p:spPr>
          <a:xfrm>
            <a:off x="605125" y="513050"/>
            <a:ext cx="6768300" cy="4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Percorrendo o dicionário por valor</a:t>
            </a: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" name="Google Shape;67;p18"/>
          <p:cNvSpPr txBox="1"/>
          <p:nvPr/>
        </p:nvSpPr>
        <p:spPr>
          <a:xfrm>
            <a:off x="1537150" y="1124625"/>
            <a:ext cx="4807200" cy="3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nomes = {</a:t>
            </a:r>
            <a:r>
              <a:rPr lang="pt-BR" sz="13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“Carlos"</a:t>
            </a: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pt-BR" sz="13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“Veras"</a:t>
            </a: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lang="pt-BR" sz="13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“Lukas"</a:t>
            </a: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pt-BR" sz="13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“Gabriel"</a:t>
            </a: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lang="pt-BR" sz="13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pt-BR" sz="1300" dirty="0" err="1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Lebron</a:t>
            </a:r>
            <a:r>
              <a:rPr lang="pt-BR" sz="13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pt-BR" sz="13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pt-BR" sz="1300" dirty="0" err="1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james</a:t>
            </a:r>
            <a:r>
              <a:rPr lang="pt-BR" sz="13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lang="pt-BR" sz="13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“Kanye"</a:t>
            </a: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pt-BR" sz="13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“West"</a:t>
            </a: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solidFill>
                  <a:srgbClr val="CF8E6D"/>
                </a:solidFill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valor </a:t>
            </a:r>
            <a:r>
              <a:rPr lang="pt-BR" sz="1300" dirty="0">
                <a:solidFill>
                  <a:srgbClr val="CF8E6D"/>
                </a:solidFill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pt-BR" sz="1300" dirty="0" err="1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nomes.values</a:t>
            </a: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():</a:t>
            </a:r>
            <a:endParaRPr sz="1300"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pt-BR" sz="1300" dirty="0">
                <a:solidFill>
                  <a:srgbClr val="8888C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3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(valor)</a:t>
            </a:r>
            <a:endParaRPr sz="1300"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&gt; Veras </a:t>
            </a:r>
            <a:r>
              <a:rPr lang="pt-BR" sz="1300" dirty="0">
                <a:solidFill>
                  <a:srgbClr val="7A7E85"/>
                </a:solidFill>
                <a:latin typeface="Consolas"/>
                <a:ea typeface="Consolas"/>
                <a:cs typeface="Consolas"/>
                <a:sym typeface="Consolas"/>
              </a:rPr>
              <a:t> # Cada for vai para uma linha na saída</a:t>
            </a:r>
            <a:endParaRPr sz="130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Gabriel</a:t>
            </a:r>
            <a:endParaRPr sz="130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James</a:t>
            </a:r>
            <a:endParaRPr sz="130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West</a:t>
            </a:r>
            <a:endParaRPr sz="130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/>
          <p:nvPr/>
        </p:nvSpPr>
        <p:spPr>
          <a:xfrm>
            <a:off x="605125" y="513050"/>
            <a:ext cx="6768300" cy="4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 se eu quiser só um valor do dicionário?</a:t>
            </a: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" name="Google Shape;73;p19"/>
          <p:cNvSpPr txBox="1"/>
          <p:nvPr/>
        </p:nvSpPr>
        <p:spPr>
          <a:xfrm>
            <a:off x="2094775" y="1382305"/>
            <a:ext cx="3789000" cy="25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nomes = {</a:t>
            </a:r>
            <a:r>
              <a:rPr lang="pt-BR" sz="14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“Carlos"</a:t>
            </a:r>
            <a:r>
              <a:rPr lang="pt-BR" sz="14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pt-BR" sz="14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“Veras"</a:t>
            </a:r>
            <a:r>
              <a:rPr lang="pt-BR" sz="14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lang="pt-BR" sz="14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“Lukas"</a:t>
            </a:r>
            <a:r>
              <a:rPr lang="pt-BR" sz="14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pt-BR" sz="14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“Gabriel"</a:t>
            </a:r>
            <a:r>
              <a:rPr lang="pt-BR" sz="14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lang="pt-BR" sz="14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pt-BR" sz="1400" dirty="0" err="1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Lebron</a:t>
            </a:r>
            <a:r>
              <a:rPr lang="pt-BR" sz="14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pt-BR" sz="14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pt-BR" sz="14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pt-BR" sz="1400" dirty="0" err="1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james</a:t>
            </a:r>
            <a:r>
              <a:rPr lang="pt-BR" sz="14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pt-BR" sz="14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lang="pt-BR" sz="14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“Kanye"</a:t>
            </a:r>
            <a:r>
              <a:rPr lang="pt-BR" sz="14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pt-BR" sz="1400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“West"</a:t>
            </a:r>
            <a:r>
              <a:rPr lang="pt-BR" sz="1400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56A8F5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(nomes[</a:t>
            </a:r>
            <a:r>
              <a:rPr lang="pt-BR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“Kanye"</a:t>
            </a:r>
            <a:r>
              <a:rPr lang="pt-BR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&gt; West</a:t>
            </a:r>
            <a:endParaRPr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/>
        </p:nvSpPr>
        <p:spPr>
          <a:xfrm>
            <a:off x="605125" y="513050"/>
            <a:ext cx="6768300" cy="4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 se eu quiser guardar mais de um valor por chave?</a:t>
            </a:r>
            <a:endParaRPr sz="22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20"/>
          <p:cNvSpPr txBox="1"/>
          <p:nvPr/>
        </p:nvSpPr>
        <p:spPr>
          <a:xfrm>
            <a:off x="1204573" y="1078950"/>
            <a:ext cx="6220629" cy="3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7A7E85"/>
                </a:solidFill>
                <a:latin typeface="Consolas"/>
                <a:ea typeface="Consolas"/>
                <a:cs typeface="Consolas"/>
                <a:sym typeface="Consolas"/>
              </a:rPr>
              <a:t># Armazene como uma lista</a:t>
            </a:r>
            <a:endParaRPr dirty="0">
              <a:solidFill>
                <a:srgbClr val="7A7E8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nomes = {</a:t>
            </a:r>
            <a:r>
              <a:rPr lang="pt-BR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pt-BR" dirty="0" err="1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kanye</a:t>
            </a:r>
            <a:r>
              <a:rPr lang="pt-BR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” </a:t>
            </a:r>
            <a:r>
              <a:rPr lang="pt-BR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lang="pt-BR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“West”</a:t>
            </a:r>
            <a:r>
              <a:rPr lang="pt-BR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pt-BR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“Ye”</a:t>
            </a:r>
            <a:r>
              <a:rPr lang="pt-BR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]}</a:t>
            </a:r>
            <a:endParaRPr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8888C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(nomes[</a:t>
            </a:r>
            <a:r>
              <a:rPr lang="pt-BR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“Kanye”</a:t>
            </a:r>
            <a:r>
              <a:rPr lang="pt-BR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&gt; [‘West’, ‘Ye’]</a:t>
            </a:r>
            <a:endParaRPr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7A7E85"/>
                </a:solidFill>
                <a:latin typeface="Consolas"/>
                <a:ea typeface="Consolas"/>
                <a:cs typeface="Consolas"/>
                <a:sym typeface="Consolas"/>
              </a:rPr>
              <a:t># Ou como um dicionário</a:t>
            </a:r>
            <a:endParaRPr dirty="0">
              <a:solidFill>
                <a:srgbClr val="7A7E8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nomes = {</a:t>
            </a:r>
            <a:r>
              <a:rPr lang="pt-BR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“Kanye"</a:t>
            </a:r>
            <a:r>
              <a:rPr lang="pt-BR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: {</a:t>
            </a:r>
            <a:r>
              <a:rPr lang="pt-BR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“Titulo"</a:t>
            </a:r>
            <a:r>
              <a:rPr lang="pt-BR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pt-BR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pt-BR" dirty="0" err="1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Goat</a:t>
            </a:r>
            <a:r>
              <a:rPr lang="pt-BR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pt-BR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pt-BR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“Sobrenome"</a:t>
            </a:r>
            <a:r>
              <a:rPr lang="pt-BR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pt-BR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“West"</a:t>
            </a:r>
            <a:r>
              <a:rPr lang="pt-BR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}}</a:t>
            </a:r>
            <a:endParaRPr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8888C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(nomes[</a:t>
            </a:r>
            <a:r>
              <a:rPr lang="pt-BR" dirty="0">
                <a:solidFill>
                  <a:srgbClr val="6AAB73"/>
                </a:solidFill>
                <a:latin typeface="Consolas"/>
                <a:ea typeface="Consolas"/>
                <a:cs typeface="Consolas"/>
                <a:sym typeface="Consolas"/>
              </a:rPr>
              <a:t>“Kanye"</a:t>
            </a:r>
            <a:r>
              <a:rPr lang="pt-BR" dirty="0">
                <a:solidFill>
                  <a:srgbClr val="BCBEC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dirty="0">
              <a:solidFill>
                <a:srgbClr val="BCBE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&gt; {‘Titulo': ‘</a:t>
            </a:r>
            <a:r>
              <a:rPr lang="pt-BR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Goat</a:t>
            </a:r>
            <a:r>
              <a:rPr lang="pt-BR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', ‘Sobrenome': ‘West'}</a:t>
            </a:r>
            <a:endParaRPr dirty="0">
              <a:solidFill>
                <a:srgbClr val="7A7E8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/>
          <p:nvPr/>
        </p:nvSpPr>
        <p:spPr>
          <a:xfrm>
            <a:off x="559825" y="2028750"/>
            <a:ext cx="3515400" cy="10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rgbClr val="10DDD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MUITO OBRIGADO!</a:t>
            </a:r>
            <a:endParaRPr sz="3600">
              <a:solidFill>
                <a:srgbClr val="10DDD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p21"/>
          <p:cNvSpPr txBox="1"/>
          <p:nvPr/>
        </p:nvSpPr>
        <p:spPr>
          <a:xfrm>
            <a:off x="973375" y="3114759"/>
            <a:ext cx="2688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5"/>
                </a:solidFill>
              </a:rPr>
              <a:t>dacomp@ufma.br</a:t>
            </a:r>
            <a:endParaRPr>
              <a:solidFill>
                <a:schemeClr val="accent5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5"/>
                </a:solidFill>
              </a:rPr>
              <a:t>@dacomp.ufma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curo_pik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</Words>
  <Application>Microsoft Office PowerPoint</Application>
  <PresentationFormat>Apresentação na tela (16:9)</PresentationFormat>
  <Paragraphs>66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Helvetica Neue</vt:lpstr>
      <vt:lpstr>Consolas</vt:lpstr>
      <vt:lpstr>Escuro_pika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EBSERH - Guilherme Barrio Nascimento</cp:lastModifiedBy>
  <cp:revision>1</cp:revision>
  <dcterms:modified xsi:type="dcterms:W3CDTF">2025-01-26T18:40:51Z</dcterms:modified>
</cp:coreProperties>
</file>